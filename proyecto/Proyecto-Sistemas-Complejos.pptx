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Medium"/>
      <p:regular r:id="rId201315"/>
    </p:embeddedFont>
    <p:embeddedFont>
      <p:font typeface="Roboto SemiBold"/>
      <p:regular r:id="rId201316"/>
    </p:embeddedFont>
    <p:embeddedFont>
      <p:font typeface="Roboto Bold"/>
      <p:regular r:id="rId201317"/>
    </p:embeddedFont>
    <p:embeddedFont>
      <p:font typeface="Roboto Black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Proyecto: Sistemas Complejos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ComplexNet API: Red Descentralizada para Procesamiento Distribuido de IA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49314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 Problema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367260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56262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Recursos Masivos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971304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de IA demandan capacidad de procesamiento que ningún servidor único puede sostener.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233360" y="3960515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8717" y="415587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Arquitectura Centralizada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428717" y="4564559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 puntos únicos de falla, cuellos de botella e incapacidad de adaptación ante cambios.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5623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Vulnerabilidades del Modelo Centralizado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71" y="1556048"/>
            <a:ext cx="4452628" cy="445273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8149" y="1812330"/>
            <a:ext cx="5238421" cy="1222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54028" y="1992015"/>
            <a:ext cx="480286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Punto Único de Falla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6554028" y="2379563"/>
            <a:ext cx="480286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el servidor central colapsa, todo el sistema queda completamente inoperativo.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8149" y="3171230"/>
            <a:ext cx="5238421" cy="12223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54028" y="3350915"/>
            <a:ext cx="480286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Cuellos de Botella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6554028" y="3738463"/>
            <a:ext cx="480286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coordinador central limita el rendimiento de toda la red, sin excepción.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8149" y="4530130"/>
            <a:ext cx="5238421" cy="12223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54028" y="4709815"/>
            <a:ext cx="480286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Falta de Adaptación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6554028" y="5097363"/>
            <a:ext cx="480286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se adapta a cambios dinámicos en la topología de la red en tiempo real.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31528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Nuestra Solución: ComplexNet API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61475" y="2809776"/>
            <a:ext cx="6296860" cy="2616597"/>
          </a:xfrm>
          <a:prstGeom prst="roundRect">
            <a:avLst>
              <a:gd name="adj" fmla="val 2882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7825" y="2816126"/>
            <a:ext cx="6284160" cy="1301948"/>
          </a:xfrm>
          <a:custGeom>
            <a:avLst/>
            <a:gdLst/>
            <a:ahLst/>
            <a:cxnLst/>
            <a:rect l="l" t="t" r="r" b="b"/>
            <a:pathLst>
              <a:path w="6284160" h="1301948">
                <a:moveTo>
                  <a:pt x="62849" y="0"/>
                </a:moveTo>
                <a:lnTo>
                  <a:pt x="6221311" y="0"/>
                </a:lnTo>
                <a:arcTo hR="62850" wR="62849" stAng="16200000" swAng="5400000"/>
                <a:lnTo>
                  <a:pt x="6284160" y="1301948"/>
                </a:lnTo>
                <a:lnTo>
                  <a:pt x="0" y="1301948"/>
                </a:lnTo>
                <a:lnTo>
                  <a:pt x="0" y="62850"/>
                </a:lnTo>
                <a:arcTo hR="62850" wR="62849" stAng="10800000" swAng="5400000"/>
                <a:close/>
              </a:path>
            </a:pathLst>
          </a:custGeom>
          <a:solidFill>
            <a:srgbClr val="182567"/>
          </a:solidFill>
          <a:ln/>
        </p:spPr>
      </p:sp>
      <p:sp>
        <p:nvSpPr>
          <p:cNvPr id="6" name="Text 3"/>
          <p:cNvSpPr/>
          <p:nvPr/>
        </p:nvSpPr>
        <p:spPr>
          <a:xfrm>
            <a:off x="847307" y="2995613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Red Descentralizada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7307" y="3378398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 procesamiento de modelos de IA sin necesidad de ningún coordinador central.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7825" y="4118074"/>
            <a:ext cx="6284160" cy="1301948"/>
          </a:xfrm>
          <a:custGeom>
            <a:avLst/>
            <a:gdLst/>
            <a:ahLst/>
            <a:cxnLst/>
            <a:rect l="l" t="t" r="r" b="b"/>
            <a:pathLst>
              <a:path w="6284160" h="1301948">
                <a:moveTo>
                  <a:pt x="0" y="0"/>
                </a:moveTo>
                <a:lnTo>
                  <a:pt x="6284160" y="0"/>
                </a:lnTo>
                <a:lnTo>
                  <a:pt x="6284160" y="1239098"/>
                </a:lnTo>
                <a:arcTo hR="62850" wR="62849" stAng="0" swAng="5400000"/>
                <a:lnTo>
                  <a:pt x="62849" y="1301948"/>
                </a:lnTo>
                <a:arcTo hR="62850" wR="62849" stAng="5400000" swAng="5400000"/>
                <a:lnTo>
                  <a:pt x="0" y="0"/>
                </a:lnTo>
                <a:close/>
              </a:path>
            </a:pathLst>
          </a:custGeom>
          <a:solidFill>
            <a:srgbClr val="182567"/>
          </a:solidFill>
          <a:ln/>
        </p:spPr>
      </p:sp>
      <p:sp>
        <p:nvSpPr>
          <p:cNvPr id="9" name="Shape 6"/>
          <p:cNvSpPr/>
          <p:nvPr/>
        </p:nvSpPr>
        <p:spPr>
          <a:xfrm>
            <a:off x="667825" y="411807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313E80"/>
          </a:solidFill>
          <a:ln/>
        </p:spPr>
      </p:sp>
      <p:sp>
        <p:nvSpPr>
          <p:cNvPr id="10" name="Text 7"/>
          <p:cNvSpPr/>
          <p:nvPr/>
        </p:nvSpPr>
        <p:spPr>
          <a:xfrm>
            <a:off x="847307" y="4297561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Nodos Autónomos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47307" y="4680347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descubren, comunican y asignan tareas entre sí de forma completamente independiente.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1463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Arquitectura por Capas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238" y="2591693"/>
            <a:ext cx="4866161" cy="22269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8687" y="2890094"/>
            <a:ext cx="1076413" cy="13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Servicios Distribuidos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268687" y="3062922"/>
            <a:ext cx="1186446" cy="18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Descubrimiento, scheduler y task manager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833734" y="3622073"/>
            <a:ext cx="1076413" cy="13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API Alto Nivel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819382" y="3794901"/>
            <a:ext cx="1090765" cy="18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9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Interfaz simplificada para desarrolladores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268687" y="4000023"/>
            <a:ext cx="1076413" cy="13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Aplicaciones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268687" y="4172851"/>
            <a:ext cx="1186446" cy="18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Monitoreo, procesamiento y ML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7942163" y="2197993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91771" y="222279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332381" y="2243435"/>
            <a:ext cx="32040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Aplicaciones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32381" y="2542679"/>
            <a:ext cx="320409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Módulos finales: monitoreo, procesamiento y machine learning.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42163" y="3087886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91771" y="3112691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332381" y="3133328"/>
            <a:ext cx="32040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API Alto Nivel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32381" y="3432572"/>
            <a:ext cx="320409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Interfaz simplificada y accesible para desarrolladores.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942163" y="3797796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91771" y="3822601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332381" y="3843238"/>
            <a:ext cx="32040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Servicios Distribuidos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332381" y="4142482"/>
            <a:ext cx="320409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Núcleo del sistema: descubrimiento, scheduler y task manager.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942163" y="4687689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91771" y="471249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8332381" y="4733131"/>
            <a:ext cx="32040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Comunicación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332381" y="5032375"/>
            <a:ext cx="320409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Transporte de datos estructurado en formato JSON.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45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Componentes Clave del Sistema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5324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86196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Node Discovery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270647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Descubre dinámicamente nodos disponibles en la red Ad hoc.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15324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86196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Resource Manager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270647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Monitorea CPU, memoria y ancho de banda en tiempo real.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51089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659809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Distributed Scheduler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068491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Asigna cada tarea al nodo más apto según sus recursos disponibles.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3951089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659809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Failure Detector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068491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Detecta nodos caídos en un máximo de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 segundos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947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Protocolo de Descubrimiento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419" y="2254647"/>
            <a:ext cx="5207663" cy="2951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7244" y="1881485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957244" y="2103338"/>
            <a:ext cx="3579227" cy="1905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6" name="Text 3"/>
          <p:cNvSpPr/>
          <p:nvPr/>
        </p:nvSpPr>
        <p:spPr>
          <a:xfrm>
            <a:off x="7957244" y="2212280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RESOURCE_BEACON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957244" y="2540000"/>
            <a:ext cx="357922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nodo transmite su presencia y recursos cada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 segundos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vía UDP broadcast.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7244" y="3149402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957244" y="3371255"/>
            <a:ext cx="3579227" cy="1905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0" name="Text 7"/>
          <p:cNvSpPr/>
          <p:nvPr/>
        </p:nvSpPr>
        <p:spPr>
          <a:xfrm>
            <a:off x="7957244" y="3480197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Registro Mutuo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57244" y="3807916"/>
            <a:ext cx="357922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nodos se registran entre sí en una tabla local llamada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PeerTable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7244" y="4417318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57244" y="4639171"/>
            <a:ext cx="3579227" cy="1905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4" name="Text 11"/>
          <p:cNvSpPr/>
          <p:nvPr/>
        </p:nvSpPr>
        <p:spPr>
          <a:xfrm>
            <a:off x="7957244" y="4748113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Detección OFFLINE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957244" y="5075833"/>
            <a:ext cx="357922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mensajes en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 segundos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el nodo se marca automáticamente como OFFLINE.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722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Formato de Mensajes JSON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40955"/>
            <a:ext cx="3496877" cy="1744762"/>
          </a:xfrm>
          <a:prstGeom prst="roundRect">
            <a:avLst>
              <a:gd name="adj" fmla="val 4550"/>
            </a:avLst>
          </a:prstGeom>
          <a:solidFill>
            <a:srgbClr val="000018">
              <a:alpha val="95000"/>
            </a:srgbClr>
          </a:solidFill>
          <a:ln w="25399">
            <a:solidFill>
              <a:srgbClr val="313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3255367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RESOURCE_BEACON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3664049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Anuncio periódico de presencia y recursos disponibles en la red.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040955"/>
            <a:ext cx="3496877" cy="1744762"/>
          </a:xfrm>
          <a:prstGeom prst="roundRect">
            <a:avLst>
              <a:gd name="adj" fmla="val 4550"/>
            </a:avLst>
          </a:prstGeom>
          <a:solidFill>
            <a:srgbClr val="000018">
              <a:alpha val="95000"/>
            </a:srgbClr>
          </a:solidFill>
          <a:ln w="25399">
            <a:solidFill>
              <a:srgbClr val="313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1766" y="3255367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TASK_SUBMIT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61766" y="3664049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Asignación directa de una tarea a un nodo específico seleccionado por el scheduler.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040955"/>
            <a:ext cx="3496877" cy="1744762"/>
          </a:xfrm>
          <a:prstGeom prst="roundRect">
            <a:avLst>
              <a:gd name="adj" fmla="val 4550"/>
            </a:avLst>
          </a:prstGeom>
          <a:solidFill>
            <a:srgbClr val="000018">
              <a:alpha val="95000"/>
            </a:srgbClr>
          </a:solidFill>
          <a:ln w="25399">
            <a:solidFill>
              <a:srgbClr val="313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7650" y="3255367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TASK_RESULT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47650" y="3664049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Retorno de resultados al nodo origen tras completar la tarea asignada.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765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Prueba de Concepto: Descubrimiento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070" y="1958082"/>
            <a:ext cx="5888287" cy="36485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87207" y="2695178"/>
            <a:ext cx="354926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ejecutaron dos nodos independientes (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nodo-01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nodo-02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en localhost con puertos UDP distintos.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987207" y="3561953"/>
            <a:ext cx="3549264" cy="1276747"/>
          </a:xfrm>
          <a:prstGeom prst="roundRect">
            <a:avLst>
              <a:gd name="adj" fmla="val 5285"/>
            </a:avLst>
          </a:prstGeom>
          <a:solidFill>
            <a:srgbClr val="183A1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838" y="3769420"/>
            <a:ext cx="200814" cy="1606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9283" y="3724870"/>
            <a:ext cx="2866556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Ambos nodos se descubrieron mutuamente y mantuvieron sus PeerTables actualizadas en tiempo real — sin ningún coordinador central.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04950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Prueba de Concepto: Detección de Fallos</a:t>
            </a:r>
            <a:endParaRPr lang="en-US" sz="2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631281"/>
            <a:ext cx="756028" cy="9072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38447" y="2782491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Fallo Detectado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1538447" y="3091259"/>
            <a:ext cx="54198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detener nodo-02, nodo-01 detectó la ausencia tras exactamente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 segundos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538537"/>
            <a:ext cx="756028" cy="9072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38447" y="3689747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Estado Actualizado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1538447" y="3998516"/>
            <a:ext cx="54198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estado cambió automáticamente de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ONLINE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OFFLINE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la PeerTable.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445794"/>
            <a:ext cx="756028" cy="9072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38447" y="4597003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Recuperación Automática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1538447" y="4905772"/>
            <a:ext cx="54198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reiniciar nodo-02, se reincorporó a la red sin intervención manual.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2026-09-10T05:45:28Z</dcterms:created>
  <dcterms:modified xsi:type="dcterms:W3CDTF">2026-09-10T05:45:28Z</dcterms:modified>
</cp:coreProperties>
</file>